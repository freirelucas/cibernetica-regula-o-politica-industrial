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FB8F0"/>
                </a:solidFill>
                <a:latin typeface="Calibri"/>
              </a:rPr>
              <a:t>IPEA · DIEST-COGIT · CIENCIOMETRIA ·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4000" b="1">
                <a:solidFill>
                  <a:srgbClr val="F5F2ED"/>
                </a:solidFill>
                <a:latin typeface="Calibri"/>
              </a:rPr>
              <a:t>Cibernética, Regulação e Política Industrial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383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CFCAC2"/>
                </a:solidFill>
                <a:latin typeface="Calibri"/>
              </a:rPr>
              <a:t>Onde estamos e o caminho para a revisão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Material preliminar · junho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A PERGUNTA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Três tradições que quase não conversam — um campo ou ilhas?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Cibernética organizacional · Regulação econômica · Política industrial.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Testamos vários modelos sobre a base OpenAlex (cocitação par-a-par e de ordem superior/hipergrafo, comunidades, intermediação, integração ΔKf), sempre contra modelos nulos.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Propósito: achar as pontes entre os campos — e testar se elas de fato existem.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O FUNIL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Escala dos dados (offline, reprodutível)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6.340 trabalhos no corpus · 60 obras-semente (20 por eixo).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Rede de cocitação dos 4 eixos: 250 nós · 7.171 arestas.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Hipergrafo: 1.383 hiperarestas (bibliografias citantes).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6B6560"/>
                </a:solidFill>
                <a:latin typeface="Calibri"/>
              </a:rPr>
              <a:t>17 estágios encadeados; cache versionado; CI verde; 80 testes.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ACHADO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Os silos são reais — e robustos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Comunidades de citação separadas: Q ≈ 0,45 contra ~0 no acaso.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No hipergrafo (listas de leitura individuais): z ≈ -46.2 — muito abaixo do acaso.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O isolamento vai até quem cita e quem colabora (corretagem ~2:1 intra-campo).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6B6560"/>
                </a:solidFill>
                <a:latin typeface="Calibri"/>
              </a:rPr>
              <a:t>Robusto a bootstrap (drop-20%) e ao nulo casado em grau.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A AGENDA HONESTA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Não há ponte latente — a convergência tem de ser construída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301 tríades de alta integração (top-10% de ΔKf) → 84 alvos de agenda (também plausíveis na faixa semântica).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C23F3F"/>
                </a:solidFill>
                <a:latin typeface="Calibri"/>
              </a:rPr>
              <a:t>Contra o nulo casado em grau: 0 além do acaso. Nenhuma ponte integra mais que o acaso.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6B6560"/>
                </a:solidFill>
                <a:latin typeface="Calibri"/>
              </a:rPr>
              <a:t>Validação temporal (fora da amostra): tendência com sinal.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A agenda diz ONDE costurar renderia mais integração — não certifica ponte existente.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RIGOR &amp; INTEGRIDADE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O que endurecemos nesta rodada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Integração = condutância real (ΔKf, posicional) — fim do artefato de grau (ex-“DESIGN”).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Higiene de dados: removidas 8 obras-fantasma (404) + 2 agregados de periódico (hubs falsos).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C23F3F"/>
                </a:solidFill>
                <a:latin typeface="Calibri"/>
              </a:rPr>
              <a:t>O “principal conector” era um registro vazio (W4285719527, ligado a 95% dos nós) — agora obra real.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6B6560"/>
                </a:solidFill>
                <a:latin typeface="Calibri"/>
              </a:rPr>
              <a:t>Auditoria final: 0 ids 404/agregado em 10 fontes de dados.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AS TRÊS TELAS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E0E0E"/>
                </a:solidFill>
                <a:latin typeface="Calibri"/>
              </a:rPr>
              <a:t>Relatório — “Comece por aqui” + 5 atos colapsáveis</a:t>
            </a:r>
          </a:p>
        </p:txBody>
      </p:sp>
      <p:pic>
        <p:nvPicPr>
          <p:cNvPr id="4" name="Picture 3" descr="deck_to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Topo executivo com curadoria de método, achados em 3 frases e mapa em 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EXPLORADOR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E0E0E"/>
                </a:solidFill>
                <a:latin typeface="Calibri"/>
              </a:rPr>
              <a:t>Modo “Só as pontes” — corta o ruído</a:t>
            </a:r>
          </a:p>
        </p:txBody>
      </p:sp>
      <p:pic>
        <p:nvPicPr>
          <p:cNvPr id="4" name="Picture 3" descr="deck_explor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De 250 nós para os alvos de agenda rotulados; rede inteira a um clique.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TRIAGEM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0E0E0E"/>
                </a:solidFill>
                <a:latin typeface="Calibri"/>
              </a:rPr>
              <a:t>Duas etapas: “o que o algoritmo achou” → “decidir”</a:t>
            </a:r>
          </a:p>
        </p:txBody>
      </p:sp>
      <p:pic>
        <p:nvPicPr>
          <p:cNvPr id="4" name="Picture 3" descr="deck_triag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65836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>
                <a:solidFill>
                  <a:srgbClr val="6B6560"/>
                </a:solidFill>
                <a:latin typeface="Calibri"/>
              </a:rPr>
              <a:t>O fruto (alvos) com o porquê de cada um; depois incluir/talvez/excluir → Rayyan.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O QUE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0E0E0E"/>
                </a:solidFill>
                <a:latin typeface="Calibri"/>
              </a:rPr>
              <a:t>Da agenda à 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Protocolo de revisão: importar Rayyan → 3 revisores independentes → κ de concordância.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Sensibilidade às sementes (drop-20% × 5) e recompute de Q no corpus novo.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0E0E0E"/>
                </a:solidFill>
                <a:latin typeface="Calibri"/>
              </a:rPr>
              <a:t>Disclosure dos inferidos no ponto da afirmação (obra &gt; autor &gt; conceito).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6B6560"/>
                </a:solidFill>
                <a:latin typeface="Calibri"/>
              </a:rPr>
              <a:t>Curadoria editorial: rolar o “em miúdos” para mais seções densas.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>
                <a:solidFill>
                  <a:srgbClr val="4B3FC2"/>
                </a:solidFill>
                <a:latin typeface="Calibri"/>
              </a:rPr>
              <a:t>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2ED"/>
                </a:solidFill>
                <a:latin typeface="Calibri"/>
              </a:rPr>
              <a:t>Decisão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F2ED"/>
                </a:solidFill>
                <a:latin typeface="Calibri"/>
              </a:rPr>
              <a:t>1. Abrir a revisão minuciosa dos candidatos (Rayyan, 3 revisores).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F5F2ED"/>
                </a:solidFill>
                <a:latin typeface="Calibri"/>
              </a:rPr>
              <a:t>2. Construir as primeiras pontes da agenda (listas comentadas, cursos, prática de política).</a:t>
            </a:r>
          </a:p>
          <a:p>
            <a:pPr algn="l">
              <a:spcAft>
                <a:spcPts val="1200"/>
              </a:spcAft>
            </a:pPr>
            <a:r>
              <a:rPr sz="1800" b="0">
                <a:solidFill>
                  <a:srgbClr val="CFCAC2"/>
                </a:solidFill>
                <a:latin typeface="Calibri"/>
              </a:rPr>
              <a:t>3. Fechar o backlog de rigor restante.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